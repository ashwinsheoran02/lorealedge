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this slide during Speaker 1’s opening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(0:00–0:35). Optional: hold a comb with loose strands to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(0:35–0:55). Be honest: scalp is crowded. The gap is AFFORDABLE, credible scalp science. The strip shows we know the competition. Hand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(0:55–1:20). Introduce ROOTED + Lab meets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(1:20–1:35). Gesture across the five bottles.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(1:35–1:55). Emphasize honesty = trust. Hand off to Speaker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(1:55–2:25). Walk the four phases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(2:25–3:00). Close slow: “Indie brands sell strands. We own the root. This is ROOTED. Thank you.”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4480560"/>
            <a:ext cx="1280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spc="1600" kern="0" dirty="0">
                <a:solidFill>
                  <a:srgbClr val="6B8A75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0" y="640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8AA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L’ORÉAL INDIA  ·  GEN Z HAIR CARE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6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200" kern="0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that starts at the scalp.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19050">
            <a:solidFill>
              <a:srgbClr val="C67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B8C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Gen Z in Hair Care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5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1  ·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2E3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22, she isn’t worried about wrinkles.
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She’s counting the hairs on her pillow.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India’s Gen Z, hair fall isn’t vanity — it’s anxiety they can see. In a generation that lives on camera, a receding hairline at 22 attacks the one thing they care about most: how they show up online.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8AA893"/>
          </a:solidFill>
          <a:ln w="12700">
            <a:solidFill>
              <a:srgbClr val="6B8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09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water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47091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8AA893"/>
          </a:solidFill>
          <a:ln w="12700">
            <a:solidFill>
              <a:srgbClr val="6B8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4709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47091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8AA893"/>
          </a:solidFill>
          <a:ln w="12700">
            <a:solidFill>
              <a:srgbClr val="6B8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4709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47091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8AA893"/>
          </a:solidFill>
          <a:ln w="12700">
            <a:solidFill>
              <a:srgbClr val="6B8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4709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sleep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35–40% of India is Gen Z — the fastest-growing beauty segment.</a:t>
            </a:r>
            <a:endParaRPr lang="en-US" sz="1400" dirty="0"/>
          </a:p>
        </p:txBody>
      </p:sp>
      <p:pic>
        <p:nvPicPr>
          <p:cNvPr id="14" name="Image 0" descr="/home/claude/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371600"/>
            <a:ext cx="4114800" cy="2606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52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shedding, made visible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AA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1  ·  THE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Everyone’s talking scalp.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Nobody’s cracked affordable scalp science.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212080" cy="2468880"/>
          </a:xfrm>
          <a:prstGeom prst="roundRect">
            <a:avLst>
              <a:gd name="adj" fmla="val 5185"/>
            </a:avLst>
          </a:prstGeom>
          <a:solidFill>
            <a:srgbClr val="232A24"/>
          </a:solidFill>
          <a:ln w="12700">
            <a:solidFill>
              <a:srgbClr val="3E46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7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3291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Ayurveda </a:t>
            </a:r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C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Gen Z out — ₹2,000–₹4,000 jars.
</a:t>
            </a:r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brands </a:t>
            </a:r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C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print “scalp” on an anti-dandruff shampoo.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212080" cy="2468880"/>
          </a:xfrm>
          <a:prstGeom prst="roundRect">
            <a:avLst>
              <a:gd name="adj" fmla="val 5185"/>
            </a:avLst>
          </a:prstGeom>
          <a:solidFill>
            <a:srgbClr val="8AA893"/>
          </a:solidFill>
          <a:ln w="12700">
            <a:solidFill>
              <a:srgbClr val="6B8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3291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 Z searches for scalp serums. They find anti-dandruff shampoo.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4343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has built credible, science-backed scalp care for the ₹400–600 wallet.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WHO’S ALREADY 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71500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32A24"/>
          </a:solidFill>
          <a:ln w="12700">
            <a:solidFill>
              <a:srgbClr val="3E4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797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 / Forest Essentials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6108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Ayurveda, ₹2k–₹4k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1568" y="571500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32A24"/>
          </a:solidFill>
          <a:ln w="12700">
            <a:solidFill>
              <a:srgbClr val="3E4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5797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Botanié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6108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microbiome, indie scale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571500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32A24"/>
          </a:solidFill>
          <a:ln w="12700">
            <a:solidFill>
              <a:srgbClr val="3E4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5797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anti-dandruff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27648" y="6108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“scalp” in name only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24544" y="571500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C67B5C"/>
          </a:solidFill>
          <a:ln w="12700">
            <a:solidFill>
              <a:srgbClr val="C67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9136" y="5797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89136" y="6108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+ Gen Z price + reach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5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2  ·  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2E3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Scalp-first hair care, built like skincare — backed by L’Oréal’s dermatological science.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852160" cy="2926080"/>
          </a:xfrm>
          <a:prstGeom prst="roundRect">
            <a:avLst>
              <a:gd name="adj" fmla="val 4375"/>
            </a:avLst>
          </a:prstGeom>
          <a:solidFill>
            <a:srgbClr val="F3EDE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474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 meets  LAND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40690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200" kern="0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ACTIVES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Redensyl · Anagain · Niacinamide · Salicylic Acid · Prebiotics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5074920"/>
            <a:ext cx="5212080" cy="0"/>
          </a:xfrm>
          <a:prstGeom prst="line">
            <a:avLst/>
          </a:prstGeom>
          <a:noFill/>
          <a:ln w="12700">
            <a:solidFill>
              <a:srgbClr val="8AA8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257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200" kern="0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BOTANICALS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Bhringraj · Cold-pressed Kalonji · Rice Water</a:t>
            </a:r>
            <a:endParaRPr lang="en-US" sz="1400" dirty="0"/>
          </a:p>
        </p:txBody>
      </p:sp>
      <p:pic>
        <p:nvPicPr>
          <p:cNvPr id="10" name="Image 0" descr="/home/claude/se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685800"/>
            <a:ext cx="2743200" cy="41148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6903720" y="493776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8AA893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5029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5340096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owns premium. Indie owns cheap. Only L’Oréal can put clinical scalp science on the ₹400 shelf — at Blinkit speed.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AA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  ·  FIVE HERO SKUs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science, at indie prices.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6916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AF6EF"/>
          </a:solidFill>
          <a:ln/>
        </p:spPr>
      </p:sp>
      <p:pic>
        <p:nvPicPr>
          <p:cNvPr id="5" name="Image 0" descr="/home/claude/se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28800"/>
            <a:ext cx="164592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" y="46634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Serum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" y="50292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₹599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825496" y="16916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AF6EF"/>
          </a:solidFill>
          <a:ln/>
        </p:spPr>
      </p:sp>
      <p:pic>
        <p:nvPicPr>
          <p:cNvPr id="9" name="Image 1" descr="/home/claude/scr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828800"/>
            <a:ext cx="164592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25496" y="46634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Scrub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25496" y="50292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₹449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038344" y="16916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AF6EF"/>
          </a:solidFill>
          <a:ln/>
        </p:spPr>
      </p:sp>
      <p:pic>
        <p:nvPicPr>
          <p:cNvPr id="13" name="Image 2" descr="/home/claude/shampo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28800"/>
            <a:ext cx="1645920" cy="274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8344" y="46634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Shampoo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38344" y="50292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₹399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7251192" y="16916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AF6EF"/>
          </a:solidFill>
          <a:ln/>
        </p:spPr>
      </p:sp>
      <p:pic>
        <p:nvPicPr>
          <p:cNvPr id="17" name="Image 3" descr="/home/claude/conditio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828800"/>
            <a:ext cx="1645920" cy="274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51192" y="46634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251192" y="50292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₹399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9464040" y="169164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AF6EF"/>
          </a:solidFill>
          <a:ln/>
        </p:spPr>
      </p:sp>
      <p:pic>
        <p:nvPicPr>
          <p:cNvPr id="21" name="Image 4" descr="/home/claude/m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1828800"/>
            <a:ext cx="1645920" cy="2743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4040" y="46634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Mask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64040" y="50292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₹549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 “Scalp Reset” Kit  —  ₹899   ·   all five priced ₹399–₹599, below the impulse-buy ceiling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5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UNFAIR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3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Scalp Match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60-second quiz — not a fake diagnosis. It reads your city’s water, your symptoms and your stress, then routes you to the right routine.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C67B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3172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4640" y="31729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promise to help — never to “cure.” Claims stay truthful.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C67B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4087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40873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you to the right products, capturing first-party data.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6B8A7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5001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50017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hair fall? It tells you to see a dermatologist.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B8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brand that says “this helps” survives a bad review. One that says “this fixes you” does not.</a:t>
            </a:r>
            <a:endParaRPr lang="en-US" sz="1400" dirty="0"/>
          </a:p>
        </p:txBody>
      </p:sp>
      <p:pic>
        <p:nvPicPr>
          <p:cNvPr id="18" name="Image 0" descr="/home/claude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0"/>
            <a:ext cx="3566160" cy="54864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AA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3  ·  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where Gen Z already is.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32A24"/>
          </a:solidFill>
          <a:ln w="19050">
            <a:solidFill>
              <a:srgbClr val="C67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7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Commerce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C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&amp; Zepto — ₹99 minis, in-hand in 10 minutes, zero commitment.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01568" y="19659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32A24"/>
          </a:solidFill>
          <a:ln w="19050">
            <a:solidFill>
              <a:srgbClr val="C67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7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30168" y="2606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D2C + Nykaa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30168" y="3520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C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Scalp-Match data, margin and the loyal core.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63056" y="19659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323A33"/>
          </a:solidFill>
          <a:ln w="19050">
            <a:solidFill>
              <a:srgbClr val="6B8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91656" y="2606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Trade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91656" y="3520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C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4+: shelf legitimacy once online demand is proven.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24544" y="19659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323A33"/>
          </a:solidFill>
          <a:ln w="19050">
            <a:solidFill>
              <a:srgbClr val="6B8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3144" y="2606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53144" y="3520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C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8+: L’Oréal’s salon halo — the at-home extension of pro care.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velocity online first — then unleash the Modern Trade &amp; salon reach no indie brand can touch.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85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“Fix the Root,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Reel.”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creators. Real derms. Real hair-fall stories. No filters, no fake promises.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3E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4617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Scalp, not strands — a category no one owns.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3E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4617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answer anxiety, not vanity.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3E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AF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11312" y="4617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L’Oréal R&amp;D + distribution indie brands can’t match.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Indie brands sell strands. We own the root.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0" y="5623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spc="600" kern="0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2026-07-19T10:21:34Z</dcterms:created>
  <dcterms:modified xsi:type="dcterms:W3CDTF">2026-07-19T10:21:34Z</dcterms:modified>
</cp:coreProperties>
</file>